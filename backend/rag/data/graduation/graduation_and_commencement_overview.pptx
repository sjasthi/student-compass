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3" d="100"/>
          <a:sy n="43" d="100"/>
        </p:scale>
        <p:origin x="67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1926-C9CB-AF09-53F2-AB17CE7DD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A7A2F-C72E-3E93-AA40-F5502F5CB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972F-B24C-1770-00DB-9B802C6F0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E7A4-C32E-494E-B634-38834F8E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18AAF-C4D8-B022-C18B-3ECEAFA00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69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DDC7-7DFC-2A00-AC0E-AA1F3F23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28DDC-AEB9-44ED-546E-5A96DECDC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F91-9258-7070-1A42-20E4CD9CE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90FA6-2719-0F10-6C06-0F40F490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12F27-0C40-38F0-8BBD-8650BD6C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5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6E9F-BBC5-A4C3-5EC2-925A6CE5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28B98-2900-1CE5-E800-B465E106B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5257-5D93-B032-0DDE-FF461EC9B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7A2E5-D496-6184-ADDB-FDD923CC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A6F0-D1D6-7E9B-0262-E5B53AAF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67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D04EE-A73B-3185-7945-66A84ED3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BBCED-C2B0-17B2-ABD1-64EC45136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86CEE-CDA8-19B2-7AAE-75651606D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9EBE3-022C-4A1E-E36D-B13B9D1E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260DF-3357-8D72-A9C8-456D127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C9DB8-2B01-6417-F980-C70598F9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89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5067-5D0E-9341-602D-D9EED7B6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20126-BFDF-424C-1D05-FBF60C59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2069F-A41C-4DC7-5747-C388BDBD9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419DDC-CF05-1E8B-487E-1CB7200719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A833FD-FF7F-143A-7092-670BCE2EF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B6AF70-1F90-6CFF-8956-F69E5A94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919E2-9D6C-2C99-0149-B14DF59E9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B61108-8A31-37BA-741B-92601241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F0D1-70C9-B751-9046-D25D7145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16149E-A405-9F44-EDB3-E042B3ED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4AA90-52A1-5CAC-98E2-1147FF6F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CA5FE-3EF9-A699-4C43-52FF89D69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53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8F659-821E-DBB0-DD3D-563AF5700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90F44-8C93-F3E2-F108-F81DA675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642FF-9346-823D-39E4-0DF0885B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5721-4DC4-277C-D859-29293D7FB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4A187-E422-5D3E-1F98-C045D9A29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6EF8D-46C6-C113-AA6A-BF6918B0D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805AB-8F46-6E51-313F-F3F3C7CA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42C3A-1647-ACBA-1B4F-0DA43C9A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C7E21-17CF-2EA8-4B1A-1543B8089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5824-872B-BFF2-552A-E8D67FC8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037D8-76E2-EAE2-A97D-5F52A4508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3ECC5-7BE8-8481-D7EB-7A2C56EC6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0ABDD-CBA8-2F21-E5B7-2FC8722E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1EF43-282A-866F-3507-78BA376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56D0A-90F2-E907-4FE4-8C2D7285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13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7FF9-6BE0-0113-F8E4-3FBBBAC1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7320C-6226-4BA6-4223-B5DDEDFA8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825FB-27D5-DBC7-7614-9A56A627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C54A-A010-E537-2AB2-2046D333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564E0-4179-B5F3-05CF-86FE1FE7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5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2FE954-DB41-5689-69C1-AB4E02840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2F9B9-C874-A26C-8063-DF51C91AB7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D9288-8CEC-0E8F-06B7-5EA82E4C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8863E-18C4-70F8-B89E-75E7870D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8D40-FA67-5258-38ED-D081C8786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1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697D35-732B-7B6A-5E9A-A9B36050A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8D77C-B054-E042-EE12-FC15599AE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93FAD-717D-7CE3-CB70-10CD4005D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325EA-8475-46B9-9862-05DB8F8D225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88C90-002B-684D-4B27-4E6E52763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5172A-BB27-C757-EEC8-8FC755E9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091DD-6F78-4C80-928D-0320004AE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99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D1358-6E3A-DBCF-CFE5-7097A266E7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Graduation &amp; Commencement Overview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7D744-652B-11DC-E823-5A6542483F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Metropolitan State University</a:t>
            </a:r>
          </a:p>
          <a:p>
            <a:r>
              <a:rPr lang="en-US" dirty="0"/>
              <a:t>Overview of graduation and commencement processes</a:t>
            </a:r>
          </a:p>
        </p:txBody>
      </p:sp>
    </p:spTree>
    <p:extLst>
      <p:ext uri="{BB962C8B-B14F-4D97-AF65-F5344CB8AC3E}">
        <p14:creationId xmlns:p14="http://schemas.microsoft.com/office/powerpoint/2010/main" val="4186921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D2969-CE7B-374C-4FC3-4411ECED7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Graduation?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991F8-5DB7-1A93-DB03-7E38F8D62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confirmation of completing all degree requirements </a:t>
            </a:r>
          </a:p>
          <a:p>
            <a:r>
              <a:rPr lang="en-US" dirty="0"/>
              <a:t>Verified through Degree Audit Report</a:t>
            </a:r>
          </a:p>
          <a:p>
            <a:r>
              <a:rPr lang="en-US" dirty="0"/>
              <a:t>Processed by Registrar’s Office</a:t>
            </a:r>
          </a:p>
          <a:p>
            <a:r>
              <a:rPr lang="en-US" dirty="0"/>
              <a:t>Degrees posted once per term </a:t>
            </a:r>
          </a:p>
          <a:p>
            <a:r>
              <a:rPr lang="en-US" dirty="0"/>
              <a:t>Students graduate in the term they register for WKSP GRAD and complete coursework</a:t>
            </a:r>
          </a:p>
        </p:txBody>
      </p:sp>
    </p:spTree>
    <p:extLst>
      <p:ext uri="{BB962C8B-B14F-4D97-AF65-F5344CB8AC3E}">
        <p14:creationId xmlns:p14="http://schemas.microsoft.com/office/powerpoint/2010/main" val="205127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C618E-ACE5-8B90-33D6-4FC00BE4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A985F-1D47-62CC-2BEC-7401102A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Commencement?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5828-6752-3F92-458C-7CDDAEF9C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Ceremonial event held in spring and fall</a:t>
            </a:r>
          </a:p>
          <a:p>
            <a:r>
              <a:rPr lang="en-US" dirty="0"/>
              <a:t>Participation is optional</a:t>
            </a:r>
          </a:p>
          <a:p>
            <a:r>
              <a:rPr lang="en-US" dirty="0"/>
              <a:t>Does not confirm degree completion </a:t>
            </a:r>
          </a:p>
          <a:p>
            <a:r>
              <a:rPr lang="en-US" dirty="0"/>
              <a:t>Coordinated by Student Life &amp; Leadership Development </a:t>
            </a:r>
          </a:p>
        </p:txBody>
      </p:sp>
    </p:spTree>
    <p:extLst>
      <p:ext uri="{BB962C8B-B14F-4D97-AF65-F5344CB8AC3E}">
        <p14:creationId xmlns:p14="http://schemas.microsoft.com/office/powerpoint/2010/main" val="3862120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84AFF-88A1-1EB9-A97D-9E67F6BB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3E0A-5458-C868-8A52-BEA11BC0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 2025 Commencement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2094F-03A4-111B-F63D-1C775B788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Location: Roy Wilkins Auditorium</a:t>
            </a:r>
          </a:p>
          <a:p>
            <a:r>
              <a:rPr lang="en-US" dirty="0"/>
              <a:t>Date: Monday, December 15</a:t>
            </a:r>
          </a:p>
          <a:p>
            <a:r>
              <a:rPr lang="en-US" dirty="0"/>
              <a:t>Ticketed event (graduates do not need a ticket)</a:t>
            </a:r>
          </a:p>
        </p:txBody>
      </p:sp>
    </p:spTree>
    <p:extLst>
      <p:ext uri="{BB962C8B-B14F-4D97-AF65-F5344CB8AC3E}">
        <p14:creationId xmlns:p14="http://schemas.microsoft.com/office/powerpoint/2010/main" val="72853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7FF2-BD69-555C-8231-16CB4C0C0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07300-6295-93B2-4523-A6DD57A9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Ceremony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06CA9-2B71-3446-3734-F0E95158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First Ceremony — 11:00 a.m.</a:t>
            </a:r>
          </a:p>
          <a:p>
            <a:pPr marL="0" indent="0">
              <a:buNone/>
            </a:pPr>
            <a:r>
              <a:rPr lang="en-US" dirty="0"/>
              <a:t>• Community Studies &amp; Public Affairs</a:t>
            </a:r>
          </a:p>
          <a:p>
            <a:pPr marL="0" indent="0">
              <a:buNone/>
            </a:pPr>
            <a:r>
              <a:rPr lang="en-US" dirty="0"/>
              <a:t>• Nursing &amp; Health Sciences</a:t>
            </a:r>
          </a:p>
          <a:p>
            <a:pPr marL="0" indent="0">
              <a:buNone/>
            </a:pPr>
            <a:r>
              <a:rPr lang="en-US" dirty="0"/>
              <a:t>• Sciences</a:t>
            </a:r>
          </a:p>
          <a:p>
            <a:pPr marL="0" indent="0">
              <a:buNone/>
            </a:pPr>
            <a:r>
              <a:rPr lang="en-US" dirty="0"/>
              <a:t>Second Ceremony — 2:30 p.m.</a:t>
            </a:r>
          </a:p>
          <a:p>
            <a:pPr marL="0" indent="0">
              <a:buNone/>
            </a:pPr>
            <a:r>
              <a:rPr lang="en-US" dirty="0"/>
              <a:t>• Business &amp; Management</a:t>
            </a:r>
          </a:p>
          <a:p>
            <a:pPr marL="0" indent="0">
              <a:buNone/>
            </a:pPr>
            <a:r>
              <a:rPr lang="en-US" dirty="0"/>
              <a:t>• Individualized Studies</a:t>
            </a:r>
          </a:p>
          <a:p>
            <a:pPr marL="0" indent="0">
              <a:buNone/>
            </a:pPr>
            <a:r>
              <a:rPr lang="en-US" dirty="0"/>
              <a:t>• Liberal Arts</a:t>
            </a:r>
          </a:p>
          <a:p>
            <a:pPr marL="0" indent="0">
              <a:buNone/>
            </a:pPr>
            <a:r>
              <a:rPr lang="en-US" dirty="0"/>
              <a:t>• Urban Education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31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691EB-C7BD-A989-E5F5-A66166C9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Participation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DFC24-97E5-6E08-C9B2-1EA656CF4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for WKSP GRAD in intended graduation term</a:t>
            </a:r>
          </a:p>
          <a:p>
            <a:r>
              <a:rPr lang="en-US" dirty="0"/>
              <a:t>Complete Commencement Participation Quiz in D2L</a:t>
            </a:r>
          </a:p>
          <a:p>
            <a:r>
              <a:rPr lang="en-US" dirty="0"/>
              <a:t>Enroll in WKSP CMNC to RSVP</a:t>
            </a:r>
          </a:p>
          <a:p>
            <a:r>
              <a:rPr lang="en-US" dirty="0"/>
              <a:t>Deadline: December 1, 2025 at noon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842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76AD5-0545-0F13-08F9-94D6DBB5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Requesting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DBE74-30A1-FF25-E94B-ABC448B42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student.life@metrostate.edu</a:t>
            </a:r>
          </a:p>
          <a:p>
            <a:r>
              <a:rPr lang="en-US" dirty="0"/>
              <a:t>Include name, </a:t>
            </a:r>
            <a:r>
              <a:rPr lang="en-US" dirty="0" err="1"/>
              <a:t>StarID</a:t>
            </a:r>
            <a:r>
              <a:rPr lang="en-US" dirty="0"/>
              <a:t>, program, major, and college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42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1FBA-C147-9DD2-E964-12D6C0599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6FE0C-7230-1A0F-E85A-78F03C792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4F3C-17D3-2D86-512C-522D863CB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balloons</a:t>
            </a:r>
          </a:p>
          <a:p>
            <a:r>
              <a:rPr lang="en-US" dirty="0"/>
              <a:t>No airhorns, noise makers, or confetti</a:t>
            </a:r>
          </a:p>
          <a:p>
            <a:r>
              <a:rPr lang="en-US" dirty="0"/>
              <a:t>Clear bags required; bags checked at entry</a:t>
            </a:r>
          </a:p>
          <a:p>
            <a:r>
              <a:rPr lang="en-US" dirty="0"/>
              <a:t>No disruptive behavior</a:t>
            </a:r>
          </a:p>
          <a:p>
            <a:r>
              <a:rPr lang="en-US" dirty="0"/>
              <a:t>Violations may result in removal</a:t>
            </a:r>
          </a:p>
          <a:p>
            <a:r>
              <a:rPr lang="en-US" dirty="0"/>
              <a:t>Students remain subject to Code of Conduct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17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5F42F-9370-ED5D-12B8-A815F206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0B98-2B24-01C3-F7D9-166846A9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22733-D660-CE85-B7F1-D7C286D3F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ASL interpreting available (live and virtual)</a:t>
            </a:r>
          </a:p>
          <a:p>
            <a:r>
              <a:rPr lang="en-US" dirty="0"/>
              <a:t>Students needing accommodations: accessibility.resources@metrostate.edu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223F-A1AC-C136-A833-F4ACA3F19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6406-BC06-03E8-47FE-91514E7A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Regalia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2918-2B49-97B6-9599-9A4DB3E8F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caps, gowns, tassels through Herff Jones</a:t>
            </a:r>
          </a:p>
          <a:p>
            <a:r>
              <a:rPr lang="en-US" dirty="0"/>
              <a:t>Order by Nov 24, 2025 for on‑time arrival</a:t>
            </a:r>
          </a:p>
          <a:p>
            <a:r>
              <a:rPr lang="en-US" dirty="0"/>
              <a:t>Doctoral regalia deadline: Nov 17,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65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EBC8-17AF-9002-D68A-EACDA07F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77FF4-EFC2-06DB-D192-57821A971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Graduation Requirements Workshop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1232-7BAA-6F15-39D7-AC276CFD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for WKSP GRAD in final term</a:t>
            </a:r>
          </a:p>
          <a:p>
            <a:r>
              <a:rPr lang="en-US" dirty="0"/>
              <a:t>Provides graduation information and required quiz</a:t>
            </a:r>
          </a:p>
          <a:p>
            <a:r>
              <a:rPr lang="en-US" dirty="0"/>
              <a:t>$20 graduation fee charged upon enrollment</a:t>
            </a:r>
          </a:p>
          <a:p>
            <a:r>
              <a:rPr lang="en-US" dirty="0"/>
              <a:t>Missed deadline → submit Appeal to Graduate Past Deadline 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24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4837-6326-95EE-069B-5EF253D9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B94-C7FA-85E9-F087-2667D5398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Honors Eligibility (Undergraduate Only)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BD83-1A0E-AE05-D94E-07505DF7C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 Cum Laude: GPA 3.900+</a:t>
            </a:r>
          </a:p>
          <a:p>
            <a:r>
              <a:rPr lang="en-US" dirty="0"/>
              <a:t>Magna Cum Laude: GPA 3.800–3.899</a:t>
            </a:r>
          </a:p>
          <a:p>
            <a:r>
              <a:rPr lang="en-US" dirty="0"/>
              <a:t>Cum Laude: GPA 3.700–3.799</a:t>
            </a:r>
          </a:p>
          <a:p>
            <a:r>
              <a:rPr lang="en-US" dirty="0"/>
              <a:t>Must complete 30 upper‑division graded credits at Metro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72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6CE5-CCC0-C26C-A6FF-E178E7D44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B95-1FEA-611C-3CB8-CE175367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Diplomas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49C3-9671-971D-EDC0-AD07CD8CF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Mailed to permanent address in </a:t>
            </a:r>
            <a:r>
              <a:rPr lang="en-US" dirty="0" err="1"/>
              <a:t>eServices</a:t>
            </a:r>
            <a:endParaRPr lang="en-US" dirty="0"/>
          </a:p>
          <a:p>
            <a:r>
              <a:rPr lang="en-US" dirty="0"/>
              <a:t>Arrive 8–10 weeks after degree posting</a:t>
            </a:r>
          </a:p>
          <a:p>
            <a:r>
              <a:rPr lang="en-US" dirty="0"/>
              <a:t>Holds may delay mailing</a:t>
            </a:r>
          </a:p>
          <a:p>
            <a:r>
              <a:rPr lang="en-US" dirty="0"/>
              <a:t>Two packages sent: diploma + transcripts</a:t>
            </a:r>
          </a:p>
          <a:p>
            <a:r>
              <a:rPr lang="en-US" dirty="0"/>
              <a:t>Students pay for reprints due to incorrect address or name changes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96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873C6-D1FD-457D-02F9-1DCD966A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593E4-6F50-02A7-2295-E4A47CE3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Commencement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5880-30D6-1018-EB37-EC8AC69AB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Commencement Expo</a:t>
            </a:r>
          </a:p>
          <a:p>
            <a:r>
              <a:rPr lang="en-US" dirty="0"/>
              <a:t>President’s Outstanding Student Awards Reception</a:t>
            </a:r>
          </a:p>
          <a:p>
            <a:r>
              <a:rPr lang="en-US" dirty="0"/>
              <a:t>Commencement Ceremony</a:t>
            </a:r>
          </a:p>
          <a:p>
            <a:r>
              <a:rPr lang="en-US" dirty="0"/>
              <a:t>Awards recognize one outstanding student per academic unit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915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8D7AE-09ED-4362-636F-1B5DB7BA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40532-3222-45AE-CC2F-5877A178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1BB2F-12E2-18D4-58B5-8804547CF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Graduation questions: graduation@metrostate.edu</a:t>
            </a:r>
          </a:p>
          <a:p>
            <a:r>
              <a:rPr lang="fr-FR" dirty="0"/>
              <a:t>Commencement questions: student.life@metrostate.edu</a:t>
            </a:r>
          </a:p>
          <a:p>
            <a:r>
              <a:rPr lang="fr-FR" dirty="0" err="1"/>
              <a:t>Address</a:t>
            </a:r>
            <a:r>
              <a:rPr lang="fr-FR" dirty="0"/>
              <a:t> updates: gateway@metrostate.edu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0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431</Words>
  <Application>Microsoft Office PowerPoint</Application>
  <PresentationFormat>Widescreen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Graduation &amp; Commencement Overview </vt:lpstr>
      <vt:lpstr>What is Graduation?</vt:lpstr>
      <vt:lpstr>What is Commencement?</vt:lpstr>
      <vt:lpstr>Fall 2025 Commencement Details</vt:lpstr>
      <vt:lpstr>Ceremony Schedule</vt:lpstr>
      <vt:lpstr>Participation Requirements</vt:lpstr>
      <vt:lpstr>Requesting Participation</vt:lpstr>
      <vt:lpstr>Behavior Guidelines</vt:lpstr>
      <vt:lpstr>Accessibility</vt:lpstr>
      <vt:lpstr>Regalia</vt:lpstr>
      <vt:lpstr>Graduation Requirements Workshop</vt:lpstr>
      <vt:lpstr>Honors Eligibility (Undergraduate Only)</vt:lpstr>
      <vt:lpstr>Diplomas</vt:lpstr>
      <vt:lpstr>Commencement Activities</vt:lpstr>
      <vt:lpstr>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Xiong, Cheng</dc:creator>
  <cp:lastModifiedBy>Xiong, Cheng</cp:lastModifiedBy>
  <cp:revision>2</cp:revision>
  <dcterms:created xsi:type="dcterms:W3CDTF">2026-03-18T17:20:52Z</dcterms:created>
  <dcterms:modified xsi:type="dcterms:W3CDTF">2026-03-18T19:22:31Z</dcterms:modified>
</cp:coreProperties>
</file>